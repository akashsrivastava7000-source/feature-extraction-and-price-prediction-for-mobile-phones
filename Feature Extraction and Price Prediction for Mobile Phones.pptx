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1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4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0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4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3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2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2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9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7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06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59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41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24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3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2595F8C-274D-4F0B-9396-E346AF8FC9FD}" type="datetimeFigureOut">
              <a:rPr lang="en-US" smtClean="0"/>
              <a:t>08-07-26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1017B2D-519B-4F93-9475-D1EE7D0B0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1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60B0-5C50-A0CE-CE37-94479EF65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61697"/>
            <a:ext cx="8825658" cy="2467303"/>
          </a:xfrm>
        </p:spPr>
        <p:txBody>
          <a:bodyPr/>
          <a:lstStyle/>
          <a:p>
            <a:r>
              <a:rPr lang="en-US" dirty="0"/>
              <a:t>Feature Extraction and Price Prediction for Mobile Phones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C135F-0DF6-6903-955C-C4BA60F4F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610304"/>
            <a:ext cx="8825658" cy="2112580"/>
          </a:xfrm>
        </p:spPr>
        <p:txBody>
          <a:bodyPr>
            <a:normAutofit/>
          </a:bodyPr>
          <a:lstStyle/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Akash Srivastava</a:t>
            </a:r>
          </a:p>
          <a:p>
            <a:r>
              <a:rPr lang="en-US" dirty="0"/>
              <a:t>Machine Learning Project </a:t>
            </a:r>
          </a:p>
          <a:p>
            <a:r>
              <a:rPr lang="en-US" dirty="0"/>
              <a:t>Decision Tree &amp; Linear Regression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0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F73D-AB4F-092C-00E0-AF180AEC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9C059D-1635-BED5-1833-6F46D9DB0B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793" y="3338591"/>
            <a:ext cx="1131964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mobile phone prices using machine learning.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feature extraction to identify important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model performance using regression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business recommendations based on the findings.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7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6741-80D1-DEB1-B38B-62FD05C5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9D6B1-FAA4-A5CD-2EC6-FDEB1EA2C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Information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EBE3E-0F8B-2C42-8E3E-C97E21A35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Features Used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2A4FB9-95CD-5C70-99A0-17F14BA41BF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Memory </a:t>
            </a:r>
          </a:p>
          <a:p>
            <a:r>
              <a:rPr lang="en-US" dirty="0"/>
              <a:t>RAM </a:t>
            </a:r>
          </a:p>
          <a:p>
            <a:r>
              <a:rPr lang="en-US" dirty="0"/>
              <a:t>Battery Capacity </a:t>
            </a:r>
          </a:p>
          <a:p>
            <a:r>
              <a:rPr lang="en-US" dirty="0"/>
              <a:t>Rear Camera </a:t>
            </a:r>
          </a:p>
          <a:p>
            <a:r>
              <a:rPr lang="en-US" dirty="0"/>
              <a:t>Front Camera </a:t>
            </a:r>
          </a:p>
          <a:p>
            <a:r>
              <a:rPr lang="en-US" dirty="0"/>
              <a:t>AI Lens </a:t>
            </a:r>
          </a:p>
          <a:p>
            <a:r>
              <a:rPr lang="en-US" dirty="0"/>
              <a:t>Mobile Height </a:t>
            </a:r>
          </a:p>
          <a:p>
            <a:r>
              <a:rPr lang="en-US" dirty="0"/>
              <a:t>Brand </a:t>
            </a:r>
          </a:p>
          <a:p>
            <a:r>
              <a:rPr lang="en-US" dirty="0"/>
              <a:t>Total camera </a:t>
            </a:r>
            <a:r>
              <a:rPr lang="en-US" i="1" dirty="0"/>
              <a:t>(Engineered Feature)</a:t>
            </a:r>
            <a:r>
              <a:rPr lang="en-US" dirty="0"/>
              <a:t> </a:t>
            </a:r>
          </a:p>
          <a:p>
            <a:r>
              <a:rPr lang="en-US" dirty="0"/>
              <a:t>RAM Memory </a:t>
            </a:r>
            <a:r>
              <a:rPr lang="en-US" i="1" dirty="0"/>
              <a:t>(Engineered Feature)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7D3016-62F1-FFC2-0DB4-E2034F63D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Target Variable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FD3E97-ADE7-CB38-5339-4BF1D8AFD58F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dirty="0"/>
              <a:t>Prize (Mobile Phone Price)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FAD4FCD-DD6B-551E-BF91-72AAA349337F}"/>
              </a:ext>
            </a:extLst>
          </p:cNvPr>
          <p:cNvSpPr>
            <a:spLocks noGrp="1" noChangeArrowheads="1"/>
          </p:cNvSpPr>
          <p:nvPr>
            <p:ph type="body" sz="half" idx="15"/>
          </p:nvPr>
        </p:nvSpPr>
        <p:spPr bwMode="auto">
          <a:xfrm>
            <a:off x="1" y="3910913"/>
            <a:ext cx="716063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541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Features: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Task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 Regression (Price Prediction)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56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483B-9FEA-8528-F7CF-4FC63EA4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7AAD-3BFC-E32A-34BC-00E62992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48" y="2191407"/>
            <a:ext cx="9728365" cy="466659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Data Cleaning &amp; Preprocessing</a:t>
            </a:r>
            <a:endParaRPr lang="en-US" dirty="0"/>
          </a:p>
          <a:p>
            <a:r>
              <a:rPr lang="en-US" dirty="0"/>
              <a:t>Flow chart</a:t>
            </a:r>
          </a:p>
          <a:p>
            <a:r>
              <a:rPr lang="en-US" dirty="0"/>
              <a:t>Dataset</a:t>
            </a:r>
          </a:p>
          <a:p>
            <a:r>
              <a:rPr lang="en-US" dirty="0"/>
              <a:t>Remove unwanted columns</a:t>
            </a:r>
          </a:p>
          <a:p>
            <a:r>
              <a:rPr lang="en-US" dirty="0"/>
              <a:t>Handle Missing Values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Encoding</a:t>
            </a:r>
          </a:p>
          <a:p>
            <a:r>
              <a:rPr lang="en-US" dirty="0"/>
              <a:t>Scaling</a:t>
            </a:r>
          </a:p>
          <a:p>
            <a:r>
              <a:rPr lang="en-US" dirty="0"/>
              <a:t>Train-Test Split</a:t>
            </a:r>
          </a:p>
          <a:p>
            <a:r>
              <a:rPr lang="en-US" dirty="0"/>
              <a:t>Bullet points</a:t>
            </a:r>
          </a:p>
          <a:p>
            <a:r>
              <a:rPr lang="en-US" dirty="0"/>
              <a:t>Removed unnecessary columns </a:t>
            </a:r>
          </a:p>
          <a:p>
            <a:r>
              <a:rPr lang="en-US" dirty="0"/>
              <a:t>Checked duplicate values </a:t>
            </a:r>
          </a:p>
          <a:p>
            <a:r>
              <a:rPr lang="en-US" dirty="0"/>
              <a:t>Handled missing values </a:t>
            </a:r>
          </a:p>
          <a:p>
            <a:r>
              <a:rPr lang="en-US" dirty="0"/>
              <a:t>Converted categorical variables into numerical format </a:t>
            </a:r>
          </a:p>
          <a:p>
            <a:r>
              <a:rPr lang="en-US" dirty="0"/>
              <a:t>Standardized numerical data </a:t>
            </a:r>
          </a:p>
          <a:p>
            <a:r>
              <a:rPr lang="en-US" dirty="0"/>
              <a:t>Split data into training and testing sets (80:20)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1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4A1B-CCAB-BBC1-DC1C-9D9D6B45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097ED-CFD5-018D-E650-FA533013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Show</a:t>
            </a:r>
          </a:p>
          <a:p>
            <a:r>
              <a:rPr lang="en-US" dirty="0"/>
              <a:t>Distribution of Price </a:t>
            </a:r>
          </a:p>
          <a:p>
            <a:r>
              <a:rPr lang="en-US" dirty="0"/>
              <a:t>Correlation Heatmap </a:t>
            </a:r>
          </a:p>
          <a:p>
            <a:r>
              <a:rPr lang="en-US" dirty="0"/>
              <a:t>Mention</a:t>
            </a:r>
          </a:p>
          <a:p>
            <a:r>
              <a:rPr lang="en-US" dirty="0"/>
              <a:t>Key Findings</a:t>
            </a:r>
          </a:p>
          <a:p>
            <a:r>
              <a:rPr lang="en-US" dirty="0"/>
              <a:t>Price is positively skewed. </a:t>
            </a:r>
          </a:p>
          <a:p>
            <a:r>
              <a:rPr lang="en-US" dirty="0"/>
              <a:t>RAM and Memory have strong positive correlation with Price. </a:t>
            </a:r>
          </a:p>
          <a:p>
            <a:r>
              <a:rPr lang="en-US" dirty="0"/>
              <a:t>Battery has very weak correlation. </a:t>
            </a:r>
          </a:p>
          <a:p>
            <a:r>
              <a:rPr lang="en-US" dirty="0"/>
              <a:t>Most phones fall in the mid-price range.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34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B6D1-6D10-0802-1026-4F27E3DB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9FB8-39F2-3C44-766E-A225B5F4A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5" y="2301766"/>
            <a:ext cx="11366938" cy="455623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Title</a:t>
            </a:r>
          </a:p>
          <a:p>
            <a:r>
              <a:rPr lang="en-US" b="1" dirty="0"/>
              <a:t>Feature Engineering</a:t>
            </a:r>
          </a:p>
          <a:p>
            <a:r>
              <a:rPr lang="en-US" dirty="0"/>
              <a:t>Mention</a:t>
            </a:r>
          </a:p>
          <a:p>
            <a:r>
              <a:rPr lang="en-US" dirty="0"/>
              <a:t>Created new features</a:t>
            </a:r>
          </a:p>
          <a:p>
            <a:r>
              <a:rPr lang="en-US" dirty="0"/>
              <a:t>Total Camera </a:t>
            </a:r>
          </a:p>
          <a:p>
            <a:r>
              <a:rPr lang="en-US" dirty="0"/>
              <a:t>RAM × Memory </a:t>
            </a:r>
          </a:p>
          <a:p>
            <a:r>
              <a:rPr lang="en-US" dirty="0"/>
              <a:t>Explain</a:t>
            </a:r>
          </a:p>
          <a:p>
            <a:r>
              <a:rPr lang="en-US" dirty="0"/>
              <a:t>These engineered features improved the predictive power of the model by combining important smartphone specifications.</a:t>
            </a:r>
          </a:p>
          <a:p>
            <a:r>
              <a:rPr lang="en-US" dirty="0"/>
              <a:t>Show one formula</a:t>
            </a:r>
          </a:p>
          <a:p>
            <a:r>
              <a:rPr lang="en-US" dirty="0"/>
              <a:t>Total Camera</a:t>
            </a:r>
          </a:p>
          <a:p>
            <a:r>
              <a:rPr lang="en-US" dirty="0"/>
              <a:t>=</a:t>
            </a:r>
          </a:p>
          <a:p>
            <a:r>
              <a:rPr lang="en-US" dirty="0"/>
              <a:t>Rear Camera + Front Camera + AI Lens</a:t>
            </a:r>
          </a:p>
          <a:p>
            <a:r>
              <a:rPr lang="en-US" dirty="0"/>
              <a:t>RAM Memory=RAM × Memory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80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09F2-631D-4534-2D77-5D209264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D5C96-7211-485C-0743-C4A458B6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500"/>
            <a:ext cx="12192000" cy="4254500"/>
          </a:xfrm>
        </p:spPr>
        <p:txBody>
          <a:bodyPr/>
          <a:lstStyle/>
          <a:p>
            <a:r>
              <a:rPr lang="en-US" b="1" dirty="0"/>
              <a:t>Machine Learning Models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Models Used</a:t>
            </a:r>
          </a:p>
          <a:p>
            <a:r>
              <a:rPr lang="en-US" dirty="0"/>
              <a:t>Create a table</a:t>
            </a:r>
          </a:p>
          <a:p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EC171D1-A341-3E17-D897-4D9E29D11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976942"/>
              </p:ext>
            </p:extLst>
          </p:nvPr>
        </p:nvGraphicFramePr>
        <p:xfrm>
          <a:off x="772510" y="4240924"/>
          <a:ext cx="9144602" cy="1371600"/>
        </p:xfrm>
        <a:graphic>
          <a:graphicData uri="http://schemas.openxmlformats.org/drawingml/2006/table">
            <a:tbl>
              <a:tblPr/>
              <a:tblGrid>
                <a:gridCol w="4572301">
                  <a:extLst>
                    <a:ext uri="{9D8B030D-6E8A-4147-A177-3AD203B41FA5}">
                      <a16:colId xmlns:a16="http://schemas.microsoft.com/office/drawing/2014/main" val="4232659621"/>
                    </a:ext>
                  </a:extLst>
                </a:gridCol>
                <a:gridCol w="4572301">
                  <a:extLst>
                    <a:ext uri="{9D8B030D-6E8A-4147-A177-3AD203B41FA5}">
                      <a16:colId xmlns:a16="http://schemas.microsoft.com/office/drawing/2014/main" val="28115691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5822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Baseline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6329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Non-linear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266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13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7E05-93BC-8084-8881-2E6950DB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872CC9-C14F-248D-10C7-B63C99D50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608970"/>
              </p:ext>
            </p:extLst>
          </p:nvPr>
        </p:nvGraphicFramePr>
        <p:xfrm>
          <a:off x="1187449" y="2506717"/>
          <a:ext cx="8761414" cy="3105805"/>
        </p:xfrm>
        <a:graphic>
          <a:graphicData uri="http://schemas.openxmlformats.org/drawingml/2006/table">
            <a:tbl>
              <a:tblPr/>
              <a:tblGrid>
                <a:gridCol w="4380707">
                  <a:extLst>
                    <a:ext uri="{9D8B030D-6E8A-4147-A177-3AD203B41FA5}">
                      <a16:colId xmlns:a16="http://schemas.microsoft.com/office/drawing/2014/main" val="1274894610"/>
                    </a:ext>
                  </a:extLst>
                </a:gridCol>
                <a:gridCol w="4380707">
                  <a:extLst>
                    <a:ext uri="{9D8B030D-6E8A-4147-A177-3AD203B41FA5}">
                      <a16:colId xmlns:a16="http://schemas.microsoft.com/office/drawing/2014/main" val="2877876300"/>
                    </a:ext>
                  </a:extLst>
                </a:gridCol>
              </a:tblGrid>
              <a:tr h="62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098696"/>
                  </a:ext>
                </a:extLst>
              </a:tr>
              <a:tr h="62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2990.78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367579"/>
                  </a:ext>
                </a:extLst>
              </a:tr>
              <a:tr h="62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18,233,091.69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47141"/>
                  </a:ext>
                </a:extLst>
              </a:tr>
              <a:tr h="62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4270.02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771407"/>
                  </a:ext>
                </a:extLst>
              </a:tr>
              <a:tr h="62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0.8282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550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86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69F5-4AAE-98EF-B17A-B489249C9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2D72-562D-C99F-F95B-027C7C84B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Important Features</a:t>
            </a:r>
          </a:p>
          <a:p>
            <a:r>
              <a:rPr lang="en-US" dirty="0"/>
              <a:t>RAM </a:t>
            </a:r>
          </a:p>
          <a:p>
            <a:r>
              <a:rPr lang="en-US" dirty="0"/>
              <a:t>Memory </a:t>
            </a:r>
          </a:p>
          <a:p>
            <a:r>
              <a:rPr lang="en-US" dirty="0"/>
              <a:t>Processor </a:t>
            </a:r>
          </a:p>
          <a:p>
            <a:r>
              <a:rPr lang="en-US" dirty="0"/>
              <a:t>Brand </a:t>
            </a:r>
          </a:p>
          <a:p>
            <a:r>
              <a:rPr lang="en-US" dirty="0"/>
              <a:t>Total Camera </a:t>
            </a:r>
          </a:p>
          <a:p>
            <a:r>
              <a:rPr lang="en-US" dirty="0"/>
              <a:t>Higher feature importance indicates greater influence on price prediction.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57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DC32-A2AE-8E6F-6D94-55F81713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Regression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73740B-E048-EB31-90D9-B045B65AB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608499"/>
              </p:ext>
            </p:extLst>
          </p:nvPr>
        </p:nvGraphicFramePr>
        <p:xfrm>
          <a:off x="1460499" y="2538248"/>
          <a:ext cx="8761414" cy="3783725"/>
        </p:xfrm>
        <a:graphic>
          <a:graphicData uri="http://schemas.openxmlformats.org/drawingml/2006/table">
            <a:tbl>
              <a:tblPr/>
              <a:tblGrid>
                <a:gridCol w="4380707">
                  <a:extLst>
                    <a:ext uri="{9D8B030D-6E8A-4147-A177-3AD203B41FA5}">
                      <a16:colId xmlns:a16="http://schemas.microsoft.com/office/drawing/2014/main" val="860723205"/>
                    </a:ext>
                  </a:extLst>
                </a:gridCol>
                <a:gridCol w="4380707">
                  <a:extLst>
                    <a:ext uri="{9D8B030D-6E8A-4147-A177-3AD203B41FA5}">
                      <a16:colId xmlns:a16="http://schemas.microsoft.com/office/drawing/2014/main" val="3444595083"/>
                    </a:ext>
                  </a:extLst>
                </a:gridCol>
              </a:tblGrid>
              <a:tr h="75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78132"/>
                  </a:ext>
                </a:extLst>
              </a:tr>
              <a:tr h="75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 Absolute Error (MAE)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1055.05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589599"/>
                  </a:ext>
                </a:extLst>
              </a:tr>
              <a:tr h="75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 Squared Error (MSE)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9,300,078.36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089799"/>
                  </a:ext>
                </a:extLst>
              </a:tr>
              <a:tr h="75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Root Mean Squared Error (RMSE)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3049.60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937318"/>
                  </a:ext>
                </a:extLst>
              </a:tr>
              <a:tr h="75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0.9124 (91.24%)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78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662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33BB-4C6C-3EF2-C9BF-68E1FBED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Observation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9A8EA3-9534-7434-C03C-667E91347F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6029" y="3969888"/>
            <a:ext cx="90651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explains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91.24%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variation in mobile phone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MAE and RMSE indicate more accurate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outperformed the Linear Regression model. </a:t>
            </a:r>
          </a:p>
        </p:txBody>
      </p:sp>
    </p:spTree>
    <p:extLst>
      <p:ext uri="{BB962C8B-B14F-4D97-AF65-F5344CB8AC3E}">
        <p14:creationId xmlns:p14="http://schemas.microsoft.com/office/powerpoint/2010/main" val="290981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F2C0-ED1E-8A6B-C200-DCA013AB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vs Predicted Prices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F898F-7CB0-4AA0-2890-7EF3A5EF1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04477"/>
              </p:ext>
            </p:extLst>
          </p:nvPr>
        </p:nvGraphicFramePr>
        <p:xfrm>
          <a:off x="914400" y="2603499"/>
          <a:ext cx="7047186" cy="4254503"/>
        </p:xfrm>
        <a:graphic>
          <a:graphicData uri="http://schemas.openxmlformats.org/drawingml/2006/table">
            <a:tbl>
              <a:tblPr/>
              <a:tblGrid>
                <a:gridCol w="3523593">
                  <a:extLst>
                    <a:ext uri="{9D8B030D-6E8A-4147-A177-3AD203B41FA5}">
                      <a16:colId xmlns:a16="http://schemas.microsoft.com/office/drawing/2014/main" val="820938085"/>
                    </a:ext>
                  </a:extLst>
                </a:gridCol>
                <a:gridCol w="3523593">
                  <a:extLst>
                    <a:ext uri="{9D8B030D-6E8A-4147-A177-3AD203B41FA5}">
                      <a16:colId xmlns:a16="http://schemas.microsoft.com/office/drawing/2014/main" val="1417813670"/>
                    </a:ext>
                  </a:extLst>
                </a:gridCol>
              </a:tblGrid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Actual Price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Predicted Price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78726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19999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19999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40263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11999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11999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213042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7999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7999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283673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2615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2499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128090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dirty="0"/>
                        <a:t>29499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30499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08031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16499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16499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8436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8999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8940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13210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13999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dirty="0"/>
                        <a:t>13999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684971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20999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20999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059623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9790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dirty="0"/>
                        <a:t>9499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81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96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30C3-DE40-75AC-8484-30941FC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842432"/>
          </a:xfrm>
        </p:spPr>
        <p:txBody>
          <a:bodyPr/>
          <a:lstStyle/>
          <a:p>
            <a:r>
              <a:rPr lang="en-US" b="1" dirty="0"/>
              <a:t>Observation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77E1-B098-5945-6D7A-C52CDB8E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Most predicted prices are very close to the actual prices. </a:t>
            </a:r>
          </a:p>
          <a:p>
            <a:r>
              <a:rPr lang="en-US" dirty="0"/>
              <a:t>Several predictions match the actual values exactly. </a:t>
            </a:r>
          </a:p>
          <a:p>
            <a:r>
              <a:rPr lang="en-US" dirty="0"/>
              <a:t>Small differences occur for a few samples, indicating good overall performance.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1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04F4-9CD6-2844-A767-A9E259B9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A500DB-2B02-2C4D-C449-C1D89F44EA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054502"/>
              </p:ext>
            </p:extLst>
          </p:nvPr>
        </p:nvGraphicFramePr>
        <p:xfrm>
          <a:off x="526472" y="2603499"/>
          <a:ext cx="7592769" cy="4254503"/>
        </p:xfrm>
        <a:graphic>
          <a:graphicData uri="http://schemas.openxmlformats.org/drawingml/2006/table">
            <a:tbl>
              <a:tblPr/>
              <a:tblGrid>
                <a:gridCol w="2530923">
                  <a:extLst>
                    <a:ext uri="{9D8B030D-6E8A-4147-A177-3AD203B41FA5}">
                      <a16:colId xmlns:a16="http://schemas.microsoft.com/office/drawing/2014/main" val="2122333009"/>
                    </a:ext>
                  </a:extLst>
                </a:gridCol>
                <a:gridCol w="2530923">
                  <a:extLst>
                    <a:ext uri="{9D8B030D-6E8A-4147-A177-3AD203B41FA5}">
                      <a16:colId xmlns:a16="http://schemas.microsoft.com/office/drawing/2014/main" val="975004349"/>
                    </a:ext>
                  </a:extLst>
                </a:gridCol>
                <a:gridCol w="2530923">
                  <a:extLst>
                    <a:ext uri="{9D8B030D-6E8A-4147-A177-3AD203B41FA5}">
                      <a16:colId xmlns:a16="http://schemas.microsoft.com/office/drawing/2014/main" val="1207092004"/>
                    </a:ext>
                  </a:extLst>
                </a:gridCol>
              </a:tblGrid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Rank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Feature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Importance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942410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Front Camera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0.5963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8125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2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Battery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0.0978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778128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3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Brand (Google)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0.0821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481311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4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Memory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0.0597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28234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5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Total Camera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0.0438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026864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6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RAM × Memory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0.0294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406480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7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Mobile Height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0.0294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39272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8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Rear Camera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0.0172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014250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Brand (Infinix)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0.0131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381809"/>
                  </a:ext>
                </a:extLst>
              </a:tr>
              <a:tr h="3867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10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Brand (Samsung)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dirty="0"/>
                        <a:t>0.0089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184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25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CC65-2211-4411-220C-2A5A5B2D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0AE312-FA6C-6D01-C6FC-65290531C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6"/>
            <a:ext cx="104214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 Camera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most influential feature in this Decision Tree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capacity, Memory, and Brand also contribute significantly.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brand dummy variables have zero importance because the tree never used them for splitting </a:t>
            </a:r>
          </a:p>
        </p:txBody>
      </p:sp>
    </p:spTree>
    <p:extLst>
      <p:ext uri="{BB962C8B-B14F-4D97-AF65-F5344CB8AC3E}">
        <p14:creationId xmlns:p14="http://schemas.microsoft.com/office/powerpoint/2010/main" val="236591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1E1B-3495-9E47-AED8-1896847C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30BA76-42EF-5E4A-FA18-63591C3C7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624868"/>
              </p:ext>
            </p:extLst>
          </p:nvPr>
        </p:nvGraphicFramePr>
        <p:xfrm>
          <a:off x="1187450" y="2538247"/>
          <a:ext cx="9485805" cy="3641836"/>
        </p:xfrm>
        <a:graphic>
          <a:graphicData uri="http://schemas.openxmlformats.org/drawingml/2006/table">
            <a:tbl>
              <a:tblPr/>
              <a:tblGrid>
                <a:gridCol w="3161935">
                  <a:extLst>
                    <a:ext uri="{9D8B030D-6E8A-4147-A177-3AD203B41FA5}">
                      <a16:colId xmlns:a16="http://schemas.microsoft.com/office/drawing/2014/main" val="881257482"/>
                    </a:ext>
                  </a:extLst>
                </a:gridCol>
                <a:gridCol w="3161935">
                  <a:extLst>
                    <a:ext uri="{9D8B030D-6E8A-4147-A177-3AD203B41FA5}">
                      <a16:colId xmlns:a16="http://schemas.microsoft.com/office/drawing/2014/main" val="223813798"/>
                    </a:ext>
                  </a:extLst>
                </a:gridCol>
                <a:gridCol w="3161935">
                  <a:extLst>
                    <a:ext uri="{9D8B030D-6E8A-4147-A177-3AD203B41FA5}">
                      <a16:colId xmlns:a16="http://schemas.microsoft.com/office/drawing/2014/main" val="1859687848"/>
                    </a:ext>
                  </a:extLst>
                </a:gridCol>
              </a:tblGrid>
              <a:tr h="910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869412"/>
                  </a:ext>
                </a:extLst>
              </a:tr>
              <a:tr h="910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2990.78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1055.05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950242"/>
                  </a:ext>
                </a:extLst>
              </a:tr>
              <a:tr h="910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4270.02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3049.60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636149"/>
                  </a:ext>
                </a:extLst>
              </a:tr>
              <a:tr h="910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82.82%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91.24%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228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716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E975-95DB-9472-0C06-AE345B73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C65FDD-9254-1766-3279-CFA7186949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434487"/>
            <a:ext cx="78951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achieved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R²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(91.24% vs. 82.82%).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produced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prediction errors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(MAE and RMSE).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Decision Tree was the better-performing model for this dataset. </a:t>
            </a:r>
          </a:p>
        </p:txBody>
      </p:sp>
    </p:spTree>
    <p:extLst>
      <p:ext uri="{BB962C8B-B14F-4D97-AF65-F5344CB8AC3E}">
        <p14:creationId xmlns:p14="http://schemas.microsoft.com/office/powerpoint/2010/main" val="3310803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516</TotalTime>
  <Words>593</Words>
  <Application>Microsoft Office PowerPoint</Application>
  <PresentationFormat>Widescreen</PresentationFormat>
  <Paragraphs>211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Unicode MS</vt:lpstr>
      <vt:lpstr>Century Gothic</vt:lpstr>
      <vt:lpstr>Wingdings 3</vt:lpstr>
      <vt:lpstr>Ion Boardroom</vt:lpstr>
      <vt:lpstr>Feature Extraction and Price Prediction for Mobile Phones</vt:lpstr>
      <vt:lpstr>Project Objective</vt:lpstr>
      <vt:lpstr>Dataset Overview</vt:lpstr>
      <vt:lpstr>Data Preprocessing</vt:lpstr>
      <vt:lpstr>Exploratory Data Analysis (EDA)</vt:lpstr>
      <vt:lpstr>Feature Engineering</vt:lpstr>
      <vt:lpstr>Machine Learning Models</vt:lpstr>
      <vt:lpstr>Model Evaluation</vt:lpstr>
      <vt:lpstr>Feature Importance</vt:lpstr>
      <vt:lpstr>Decision Tree Regression</vt:lpstr>
      <vt:lpstr>Key Observation</vt:lpstr>
      <vt:lpstr>Actual vs Predicted Prices</vt:lpstr>
      <vt:lpstr>Observation </vt:lpstr>
      <vt:lpstr>Feature Importance</vt:lpstr>
      <vt:lpstr>Observation</vt:lpstr>
      <vt:lpstr>Model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srivastava</dc:creator>
  <cp:lastModifiedBy>akash srivastava</cp:lastModifiedBy>
  <cp:revision>3</cp:revision>
  <dcterms:created xsi:type="dcterms:W3CDTF">2026-07-07T06:33:21Z</dcterms:created>
  <dcterms:modified xsi:type="dcterms:W3CDTF">2026-07-08T06:14:15Z</dcterms:modified>
</cp:coreProperties>
</file>